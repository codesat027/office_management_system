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9037" autoAdjust="0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90" y="7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9114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A0BF"/>
          </a:solidFill>
          <a:ln w="12700">
            <a:solidFill>
              <a:srgbClr val="E8A0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E8A0BF"/>
          </a:solidFill>
          <a:ln w="12700">
            <a:solidFill>
              <a:srgbClr val="E8A0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"/>
            <a:ext cx="320040" cy="4919472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569562"/>
            <a:ext cx="6533342" cy="1076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400" dirty="0">
                <a:solidFill>
                  <a:srgbClr val="E8A0BF"/>
                </a:solidFill>
                <a:latin typeface="Bodoni MT Black" panose="02070A03080606020203" pitchFamily="18" charset="0"/>
                <a:ea typeface="Calibri" pitchFamily="34" charset="-122"/>
                <a:cs typeface="Calibri" pitchFamily="34" charset="-120"/>
              </a:rPr>
              <a:t>DCIPHERS </a:t>
            </a:r>
            <a:r>
              <a:rPr lang="en-US" sz="3600" b="1" kern="0" spc="400" dirty="0" smtClean="0">
                <a:solidFill>
                  <a:srgbClr val="E8A0BF"/>
                </a:solidFill>
                <a:latin typeface="Bodoni MT Black" panose="02070A03080606020203" pitchFamily="18" charset="0"/>
                <a:ea typeface="Calibri" pitchFamily="34" charset="-122"/>
                <a:cs typeface="Calibri" pitchFamily="34" charset="-120"/>
              </a:rPr>
              <a:t>IT SOLUTIONS </a:t>
            </a:r>
            <a:r>
              <a:rPr lang="en-US" sz="3600" b="1" kern="0" spc="400" dirty="0">
                <a:solidFill>
                  <a:srgbClr val="E8A0BF"/>
                </a:solidFill>
                <a:latin typeface="Bodoni MT Black" panose="02070A03080606020203" pitchFamily="18" charset="0"/>
                <a:ea typeface="Calibri" pitchFamily="34" charset="-122"/>
                <a:cs typeface="Calibri" pitchFamily="34" charset="-120"/>
              </a:rPr>
              <a:t>PVT. LTD.</a:t>
            </a:r>
            <a:endParaRPr lang="en-US" sz="3600" dirty="0">
              <a:latin typeface="Bodoni MT Black" panose="02070A030806060202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0058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BA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&amp; SaaS Security | Cybersecurity | System Integration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5029200" cy="502920"/>
          </a:xfrm>
          <a:prstGeom prst="rect">
            <a:avLst/>
          </a:prstGeom>
          <a:solidFill>
            <a:srgbClr val="C2185B">
              <a:alpha val="80000"/>
            </a:srgbClr>
          </a:solidFill>
          <a:ln w="12700">
            <a:solidFill>
              <a:srgbClr val="E8A0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346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"Making Solutions Simple"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737360" cy="822960"/>
          </a:xfrm>
          <a:prstGeom prst="rect">
            <a:avLst/>
          </a:prstGeom>
          <a:solidFill>
            <a:srgbClr val="2E5BAC">
              <a:alpha val="70000"/>
            </a:srgbClr>
          </a:solidFill>
          <a:ln w="12700">
            <a:solidFill>
              <a:srgbClr val="7BA7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65760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A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Year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0" y="3657600"/>
            <a:ext cx="1737360" cy="822960"/>
          </a:xfrm>
          <a:prstGeom prst="rect">
            <a:avLst/>
          </a:prstGeom>
          <a:solidFill>
            <a:srgbClr val="2E5BAC">
              <a:alpha val="70000"/>
            </a:srgbClr>
          </a:solidFill>
          <a:ln w="12700">
            <a:solidFill>
              <a:srgbClr val="7BA7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365760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SaaS+IT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60320" y="4114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A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3657600"/>
            <a:ext cx="1737360" cy="822960"/>
          </a:xfrm>
          <a:prstGeom prst="rect">
            <a:avLst/>
          </a:prstGeom>
          <a:solidFill>
            <a:srgbClr val="2E5BAC">
              <a:alpha val="70000"/>
            </a:srgbClr>
          </a:solidFill>
          <a:ln w="12700">
            <a:solidFill>
              <a:srgbClr val="7BA7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365760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SME/Ent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0" y="4114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A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Clients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dciphers.com</a:t>
            </a:r>
            <a:endParaRPr lang="en-US" sz="1000" dirty="0"/>
          </a:p>
        </p:txBody>
      </p:sp>
      <p:sp>
        <p:nvSpPr>
          <p:cNvPr id="24" name="Oval 23"/>
          <p:cNvSpPr/>
          <p:nvPr/>
        </p:nvSpPr>
        <p:spPr>
          <a:xfrm>
            <a:off x="7955280" y="1104900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071" y="152299"/>
            <a:ext cx="3197081" cy="31970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IS DCIPHERS?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393192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A0B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3931920" cy="411480"/>
          </a:xfrm>
          <a:prstGeom prst="rect">
            <a:avLst/>
          </a:prstGeom>
          <a:solidFill>
            <a:srgbClr val="2E5BAC"/>
          </a:solidFill>
          <a:ln w="12700">
            <a:solidFill>
              <a:srgbClr val="2E5B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887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at a Glance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1737360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70078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New-age System Integrator (SI) &amp; IT services company founded in India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2212848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17627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at the critical middle layer between OEM brands and end customers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2688336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6517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chain: OEM → Distributor → Dciphers → Customer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" y="3163824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12724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a 'trusted local expert' — not just a reseller, but an advisor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" y="3639312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60273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with top distributors: Redington &amp; Ingram Micro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" y="4114800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407822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partners include Cisco, Palo Alto Networks, Fortinet &amp; Microsoft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80560" y="1188720"/>
            <a:ext cx="438912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2E5BA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80560" y="1188720"/>
            <a:ext cx="201168" cy="1051560"/>
          </a:xfrm>
          <a:prstGeom prst="rect">
            <a:avLst/>
          </a:prstGeom>
          <a:solidFill>
            <a:srgbClr val="2E5BAC"/>
          </a:solidFill>
          <a:ln w="12700">
            <a:solidFill>
              <a:srgbClr val="2E5BA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12527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&amp; Strategize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36592" y="153619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existing IT setup, identify vulnerabilities, and build a tailored security roadmap — before spending a rupee on new tech.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80560" y="2322576"/>
            <a:ext cx="438912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C2185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0560" y="2322576"/>
            <a:ext cx="201168" cy="105156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238658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Optimize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36592" y="267004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right OEM solution for each client's unique environment; squeeze ROI out of existing tools first.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80560" y="3456432"/>
            <a:ext cx="438912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A7D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80560" y="3456432"/>
            <a:ext cx="201168" cy="1051560"/>
          </a:xfrm>
          <a:prstGeom prst="rect">
            <a:avLst/>
          </a:prstGeom>
          <a:solidFill>
            <a:srgbClr val="7BA7D8"/>
          </a:solidFill>
          <a:ln w="12700">
            <a:solidFill>
              <a:srgbClr val="7BA7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352044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A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&amp; Support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36592" y="3803904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deployment, configuration, user training, and 24/7 escalation management via distributor/OEM chain.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7432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dciphers.com  |  Making Solutions Simple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0BF"/>
          </a:solidFill>
          <a:ln w="12700">
            <a:solidFill>
              <a:srgbClr val="E8A0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 OPPORTUNITY DCIPHERS TARGETS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BA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&amp; SaaS Security is a ₹177 Billion opportunity in India alone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965960" cy="2377440"/>
          </a:xfrm>
          <a:prstGeom prst="rect">
            <a:avLst/>
          </a:prstGeom>
          <a:solidFill>
            <a:srgbClr val="2E5BAC">
              <a:alpha val="60000"/>
            </a:srgbClr>
          </a:solidFill>
          <a:ln w="19050">
            <a:solidFill>
              <a:srgbClr val="C218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3444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47472" y="21945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Indian enterprises now use SaaS apps like Office 365, Zoom &amp; Slack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143000"/>
            <a:ext cx="1965960" cy="2377440"/>
          </a:xfrm>
          <a:prstGeom prst="rect">
            <a:avLst/>
          </a:prstGeom>
          <a:solidFill>
            <a:srgbClr val="2E5BAC">
              <a:alpha val="60000"/>
            </a:srgbClr>
          </a:solidFill>
          <a:ln w="19050">
            <a:solidFill>
              <a:srgbClr val="E8A0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123444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A0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3×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523744" y="21945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in cyberattacks on cloud workloads between 2022 and 2024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26864" y="1143000"/>
            <a:ext cx="1965960" cy="2377440"/>
          </a:xfrm>
          <a:prstGeom prst="rect">
            <a:avLst/>
          </a:prstGeom>
          <a:solidFill>
            <a:srgbClr val="2E5BAC">
              <a:alpha val="60000"/>
            </a:srgbClr>
          </a:solidFill>
          <a:ln w="19050">
            <a:solidFill>
              <a:srgbClr val="7BA7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123444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7BA7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₹177B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700016" y="21945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India cybersecurity market size by 2026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03136" y="1143000"/>
            <a:ext cx="1965960" cy="2377440"/>
          </a:xfrm>
          <a:prstGeom prst="rect">
            <a:avLst/>
          </a:prstGeom>
          <a:solidFill>
            <a:srgbClr val="2E5BAC">
              <a:alpha val="60000"/>
            </a:srgbClr>
          </a:solidFill>
          <a:ln w="19050">
            <a:solidFill>
              <a:srgbClr val="E8A0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03136" y="123444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A0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876288" y="21945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breaches involve human error or misconfiguration — fixable!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3657600"/>
            <a:ext cx="9144000" cy="1371600"/>
          </a:xfrm>
          <a:prstGeom prst="rect">
            <a:avLst/>
          </a:prstGeom>
          <a:solidFill>
            <a:srgbClr val="2E5BAC">
              <a:alpha val="80000"/>
            </a:srgbClr>
          </a:solidFill>
          <a:ln w="12700">
            <a:solidFill>
              <a:srgbClr val="2E5B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703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4069080"/>
            <a:ext cx="109728" cy="109728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4041648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tools create new identity &amp; data risks traditional firewalls cannot see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68880" y="4069080"/>
            <a:ext cx="109728" cy="109728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33472" y="4041648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work has dissolved the old network perimeter — zero trust is essential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4069080"/>
            <a:ext cx="109728" cy="109728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4041648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IT Act &amp; new DPDP Bill are raising compliance stakes for all enterprises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58000" y="4069080"/>
            <a:ext cx="109728" cy="109728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22592" y="4041648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products alone aren't enough — integration &amp; monitoring make the difference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4892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A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dciphers.com  |  Making Solutions Simple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CYBERSECURITY CHALLENGES DCIPHERS SOLVES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B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2743200" cy="384048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" y="1088136"/>
            <a:ext cx="2596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 Identity &amp; Access Sprawl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472184"/>
            <a:ext cx="25786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employee uses 9+ SaaS apps. Without MFA or SSO, one stolen password unlocks the entire org — attackers know this.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2359152"/>
            <a:ext cx="2560320" cy="320040"/>
          </a:xfrm>
          <a:prstGeom prst="rect">
            <a:avLst/>
          </a:prstGeom>
          <a:solidFill>
            <a:srgbClr val="FCE4EC"/>
          </a:solidFill>
          <a:ln w="12700">
            <a:solidFill>
              <a:srgbClr val="E8A0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3591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Azure AD MFA + Zero Trust SSO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54680" y="105156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B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051560"/>
            <a:ext cx="2743200" cy="384048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1088136"/>
            <a:ext cx="2596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Cloud Misconfiguration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1472184"/>
            <a:ext cx="25786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shows 99% of cloud breaches are caused by misconfiguration, not sophisticated hacking — it's an operational problem.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2359152"/>
            <a:ext cx="2560320" cy="320040"/>
          </a:xfrm>
          <a:prstGeom prst="rect">
            <a:avLst/>
          </a:prstGeom>
          <a:solidFill>
            <a:srgbClr val="FCE4EC"/>
          </a:solidFill>
          <a:ln w="12700">
            <a:solidFill>
              <a:srgbClr val="E8A0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23591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CSPM + Dciphers audit service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0760" y="105156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B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051560"/>
            <a:ext cx="2743200" cy="384048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53912" y="1088136"/>
            <a:ext cx="2596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Insider Threats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72200" y="1472184"/>
            <a:ext cx="25786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Ex-employees with active credentials or over-privileged accounts caused 34% of data incidents in 2023 (Verizon DBIR data).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72200" y="2359152"/>
            <a:ext cx="2560320" cy="320040"/>
          </a:xfrm>
          <a:prstGeom prst="rect">
            <a:avLst/>
          </a:prstGeom>
          <a:solidFill>
            <a:srgbClr val="FCE4EC"/>
          </a:solidFill>
          <a:ln w="12700">
            <a:solidFill>
              <a:srgbClr val="E8A0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23591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PAM + PIM Implementation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297180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B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2971800"/>
            <a:ext cx="2743200" cy="384048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" y="3008376"/>
            <a:ext cx="2596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Supply Chain Risk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3392424"/>
            <a:ext cx="25786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SolarWinds (2020) showed how a trusted software update can compromise 18,000+ orgs at once — no one is immune.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4279392"/>
            <a:ext cx="2560320" cy="320040"/>
          </a:xfrm>
          <a:prstGeom prst="rect">
            <a:avLst/>
          </a:prstGeom>
          <a:solidFill>
            <a:srgbClr val="FCE4EC"/>
          </a:solidFill>
          <a:ln w="12700">
            <a:solidFill>
              <a:srgbClr val="E8A0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2793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Security Analytics + SOC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154680" y="297180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B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54680" y="2971800"/>
            <a:ext cx="2743200" cy="384048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27832" y="3008376"/>
            <a:ext cx="2596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Unmanaged Endpoints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46120" y="3392424"/>
            <a:ext cx="25786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BYOD and personal devices on corporate Wi-Fi are the #1 entry point for lateral movement attacks in manufacturing &amp; SMEs.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46120" y="4279392"/>
            <a:ext cx="2560320" cy="320040"/>
          </a:xfrm>
          <a:prstGeom prst="rect">
            <a:avLst/>
          </a:prstGeom>
          <a:solidFill>
            <a:srgbClr val="FCE4EC"/>
          </a:solidFill>
          <a:ln w="12700">
            <a:solidFill>
              <a:srgbClr val="E8A0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42793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MDM + NAC Deployment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80760" y="297180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B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80760" y="2971800"/>
            <a:ext cx="2743200" cy="384048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53912" y="3008376"/>
            <a:ext cx="2596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Zero Visibility / No SOC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72200" y="3392424"/>
            <a:ext cx="25786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Indian SMEs detect breaches 197 days after intrusion (IBM Cost of Breach Report) — attackers live quietly inside.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72200" y="4279392"/>
            <a:ext cx="2560320" cy="320040"/>
          </a:xfrm>
          <a:prstGeom prst="rect">
            <a:avLst/>
          </a:prstGeom>
          <a:solidFill>
            <a:srgbClr val="FCE4EC"/>
          </a:solidFill>
          <a:ln w="12700">
            <a:solidFill>
              <a:srgbClr val="E8A0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72200" y="42793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Advance SOC + SIEM Setup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74320" y="4892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dciphers.com  |  Making Solutions Simple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0BF"/>
          </a:solidFill>
          <a:ln w="12700">
            <a:solidFill>
              <a:srgbClr val="E8A0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BREACHES. REAL LESSONS. DCIPHERS FIXES.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BA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Dciphers would have stopped each attack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8778240" cy="731520"/>
          </a:xfrm>
          <a:prstGeom prst="rect">
            <a:avLst/>
          </a:prstGeom>
          <a:solidFill>
            <a:srgbClr val="2E5BAC">
              <a:alpha val="45000"/>
            </a:srgbClr>
          </a:solidFill>
          <a:ln w="6350">
            <a:solidFill>
              <a:srgbClr val="7BA7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AIIMS Delhi — Nov 2022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43560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~40M patient records encrypted. Ran manually for 2 weeks. Estimated loss: ₹200Cr+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54680" y="1161288"/>
            <a:ext cx="27432" cy="54864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0972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Dciphers Fix: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46120" y="135331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DR Services + Endpoint Security + Next-Gen Perimeter Firewall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" y="1847088"/>
            <a:ext cx="8778240" cy="731520"/>
          </a:xfrm>
          <a:prstGeom prst="rect">
            <a:avLst/>
          </a:prstGeom>
          <a:solidFill>
            <a:srgbClr val="2E5BAC">
              <a:alpha val="45000"/>
            </a:srgbClr>
          </a:solidFill>
          <a:ln w="6350">
            <a:solidFill>
              <a:srgbClr val="7BA7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8928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Indian NBFC/Banking Leaks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223113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leaked due to unpatched systems. Multiple RBI penalties issued to banks.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54680" y="1956816"/>
            <a:ext cx="27432" cy="54864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89280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Dciphers Fix: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46120" y="21488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Assessment + Penetration Testing + NAC/MDM Deployment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" y="2642616"/>
            <a:ext cx="8778240" cy="731520"/>
          </a:xfrm>
          <a:prstGeom prst="rect">
            <a:avLst/>
          </a:prstGeom>
          <a:solidFill>
            <a:srgbClr val="2E5BAC">
              <a:alpha val="45000"/>
            </a:srgbClr>
          </a:solidFill>
          <a:ln w="6350">
            <a:solidFill>
              <a:srgbClr val="7BA7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68833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Microsoft 365 BEC Attacks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302666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vendor payments rerouted via phished O365 accounts. Indian companies losing crores.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54680" y="2752344"/>
            <a:ext cx="27432" cy="54864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268833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Dciphers Fix: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46120" y="2944368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Email Security + MFA via Azure AD + CASB Implementation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2880" y="3438144"/>
            <a:ext cx="8778240" cy="731520"/>
          </a:xfrm>
          <a:prstGeom prst="rect">
            <a:avLst/>
          </a:prstGeom>
          <a:solidFill>
            <a:srgbClr val="2E5BAC">
              <a:alpha val="45000"/>
            </a:srgbClr>
          </a:solidFill>
          <a:ln w="6350">
            <a:solidFill>
              <a:srgbClr val="7BA7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48386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Factory Wi-Fi Lateral Attack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" y="38221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via guest Wi-Fi reached OT/production systems — shut entire plant in Maharashtra.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154680" y="3547872"/>
            <a:ext cx="27432" cy="54864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348386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Dciphers Fix: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46120" y="3739896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Heat Mapping + Network Segmentation + SD-WAN Deployment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2880" y="4233672"/>
            <a:ext cx="8778240" cy="731520"/>
          </a:xfrm>
          <a:prstGeom prst="rect">
            <a:avLst/>
          </a:prstGeom>
          <a:solidFill>
            <a:srgbClr val="2E5BAC">
              <a:alpha val="45000"/>
            </a:srgbClr>
          </a:solidFill>
          <a:ln w="6350">
            <a:solidFill>
              <a:srgbClr val="7BA7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2793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SolarWinds Supply Chain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" y="46177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software update hit 18,000+ orgs globally including US Treasury &amp; NSA.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154680" y="4343400"/>
            <a:ext cx="27432" cy="54864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42793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Dciphers Fix: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246120" y="4535424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Analytics &amp; Automation + SOC + Anomaly Detection Integration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432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dciphers.com  |  Making Solutions Simple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5BAC"/>
          </a:solidFill>
          <a:ln w="12700">
            <a:solidFill>
              <a:srgbClr val="2E5BA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E8A0BF"/>
          </a:solidFill>
          <a:ln w="12700">
            <a:solidFill>
              <a:srgbClr val="E8A0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SECURITY GAPS IN INDIAN ENTERPRISES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8686800" cy="384048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3360" y="10515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40680" y="105156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Dciphers Solution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481328"/>
            <a:ext cx="8686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A0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48132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Multi-Factor Authentication (MFA)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0" y="14813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Critical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40680" y="148132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5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MFA + PIM Implementation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2029968"/>
            <a:ext cx="8686800" cy="502920"/>
          </a:xfrm>
          <a:prstGeom prst="rect">
            <a:avLst/>
          </a:prstGeom>
          <a:solidFill>
            <a:srgbClr val="FCE4EC"/>
          </a:solidFill>
          <a:ln w="6350">
            <a:solidFill>
              <a:srgbClr val="E8A0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0299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Unpatched Systems &amp; Outdated Software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23360" y="20299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Critical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40680" y="202996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5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Assessment + Patch Advisory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578608"/>
            <a:ext cx="8686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A0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57860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Email Security Gateway or Anti-Phishing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23360" y="257860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High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40680" y="257860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5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Email Security + Anti-Phishing Tools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3127248"/>
            <a:ext cx="8686800" cy="502920"/>
          </a:xfrm>
          <a:prstGeom prst="rect">
            <a:avLst/>
          </a:prstGeom>
          <a:solidFill>
            <a:srgbClr val="FCE4EC"/>
          </a:solidFill>
          <a:ln w="6350">
            <a:solidFill>
              <a:srgbClr val="E8A0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2724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Endpoint Visibility (BYOD/No MDM)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23360" y="312724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Critical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40680" y="312724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5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 + MDM + Endpoint Security Suite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28600" y="3675888"/>
            <a:ext cx="8686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A0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67588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SOC or 24×7 Security Monitoring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23360" y="367588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Critical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40680" y="367588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5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SOC Setup + Security Analytics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28600" y="4224528"/>
            <a:ext cx="8686800" cy="502920"/>
          </a:xfrm>
          <a:prstGeom prst="rect">
            <a:avLst/>
          </a:prstGeom>
          <a:solidFill>
            <a:srgbClr val="FCE4EC"/>
          </a:solidFill>
          <a:ln w="6350">
            <a:solidFill>
              <a:srgbClr val="E8A0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22452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Network — No Segmentation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023360" y="42245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High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40680" y="422452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5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SD-WAN + Network Segmentation + Firewall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74320" y="49194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dciphers.com  |  Making Solutions Simple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0BF"/>
          </a:solidFill>
          <a:ln w="12700">
            <a:solidFill>
              <a:srgbClr val="E8A0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DCIPHERS SECURES YOUR BUSINESS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BA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5-step methodology — not a one-size-fits-all product push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554480" y="2286000"/>
            <a:ext cx="402336" cy="109728"/>
          </a:xfrm>
          <a:prstGeom prst="rect">
            <a:avLst/>
          </a:prstGeom>
          <a:solidFill>
            <a:srgbClr val="7BA7D8">
              <a:alpha val="60000"/>
            </a:srgbClr>
          </a:solidFill>
          <a:ln w="12700">
            <a:solidFill>
              <a:srgbClr val="7BA7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005840"/>
            <a:ext cx="1508760" cy="3566160"/>
          </a:xfrm>
          <a:prstGeom prst="rect">
            <a:avLst/>
          </a:prstGeom>
          <a:solidFill>
            <a:srgbClr val="2E5BAC">
              <a:alpha val="70000"/>
            </a:srgbClr>
          </a:solidFill>
          <a:ln w="25400">
            <a:solidFill>
              <a:srgbClr val="C218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1143000"/>
            <a:ext cx="731520" cy="73152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143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" y="199339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" y="2377440"/>
            <a:ext cx="1371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IT audit: find open ports, unpatched systems, misconfigured cloud assets, identity gaps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28416" y="2286000"/>
            <a:ext cx="402336" cy="109728"/>
          </a:xfrm>
          <a:prstGeom prst="rect">
            <a:avLst/>
          </a:prstGeom>
          <a:solidFill>
            <a:srgbClr val="7BA7D8">
              <a:alpha val="60000"/>
            </a:srgbClr>
          </a:solidFill>
          <a:ln w="12700">
            <a:solidFill>
              <a:srgbClr val="7BA7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56816" y="1005840"/>
            <a:ext cx="1508760" cy="3566160"/>
          </a:xfrm>
          <a:prstGeom prst="rect">
            <a:avLst/>
          </a:prstGeom>
          <a:solidFill>
            <a:srgbClr val="2E5BAC">
              <a:alpha val="70000"/>
            </a:srgbClr>
          </a:solidFill>
          <a:ln w="25400">
            <a:solidFill>
              <a:srgbClr val="E8A0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50008" y="1143000"/>
            <a:ext cx="731520" cy="731520"/>
          </a:xfrm>
          <a:prstGeom prst="ellipse">
            <a:avLst/>
          </a:prstGeom>
          <a:solidFill>
            <a:srgbClr val="E8A0BF"/>
          </a:solidFill>
          <a:ln w="12700">
            <a:solidFill>
              <a:srgbClr val="E8A0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50008" y="1143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956816" y="199339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E8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STRATEGIZE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29968" y="2377440"/>
            <a:ext cx="1371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prioritized security roadmap — fix critical gaps first, plan future investments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102352" y="2286000"/>
            <a:ext cx="402336" cy="109728"/>
          </a:xfrm>
          <a:prstGeom prst="rect">
            <a:avLst/>
          </a:prstGeom>
          <a:solidFill>
            <a:srgbClr val="7BA7D8">
              <a:alpha val="60000"/>
            </a:srgbClr>
          </a:solidFill>
          <a:ln w="12700">
            <a:solidFill>
              <a:srgbClr val="7BA7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30752" y="1005840"/>
            <a:ext cx="1508760" cy="3566160"/>
          </a:xfrm>
          <a:prstGeom prst="rect">
            <a:avLst/>
          </a:prstGeom>
          <a:solidFill>
            <a:srgbClr val="2E5BAC">
              <a:alpha val="70000"/>
            </a:srgbClr>
          </a:solidFill>
          <a:ln w="25400">
            <a:solidFill>
              <a:srgbClr val="7BA7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23944" y="1143000"/>
            <a:ext cx="731520" cy="731520"/>
          </a:xfrm>
          <a:prstGeom prst="ellipse">
            <a:avLst/>
          </a:prstGeom>
          <a:solidFill>
            <a:srgbClr val="7BA7D8"/>
          </a:solidFill>
          <a:ln w="12700">
            <a:solidFill>
              <a:srgbClr val="7BA7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23944" y="1143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730752" y="199339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7BA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03904" y="2377440"/>
            <a:ext cx="1371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the right OEM solution tailored to the client's industry, size &amp; budget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76288" y="2286000"/>
            <a:ext cx="402336" cy="109728"/>
          </a:xfrm>
          <a:prstGeom prst="rect">
            <a:avLst/>
          </a:prstGeom>
          <a:solidFill>
            <a:srgbClr val="7BA7D8">
              <a:alpha val="60000"/>
            </a:srgbClr>
          </a:solidFill>
          <a:ln w="12700">
            <a:solidFill>
              <a:srgbClr val="7BA7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04688" y="1005840"/>
            <a:ext cx="1508760" cy="3566160"/>
          </a:xfrm>
          <a:prstGeom prst="rect">
            <a:avLst/>
          </a:prstGeom>
          <a:solidFill>
            <a:srgbClr val="2E5BAC">
              <a:alpha val="70000"/>
            </a:srgbClr>
          </a:solidFill>
          <a:ln w="25400">
            <a:solidFill>
              <a:srgbClr val="E8A0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1143000"/>
            <a:ext cx="731520" cy="731520"/>
          </a:xfrm>
          <a:prstGeom prst="ellipse">
            <a:avLst/>
          </a:prstGeom>
          <a:solidFill>
            <a:srgbClr val="E8A0BF"/>
          </a:solidFill>
          <a:ln w="12700">
            <a:solidFill>
              <a:srgbClr val="E8A0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43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504688" y="199339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E8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77840" y="2377440"/>
            <a:ext cx="1371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Squeeze more value from existing tools before recommending new spend — honest approach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278624" y="1005840"/>
            <a:ext cx="1508760" cy="3566160"/>
          </a:xfrm>
          <a:prstGeom prst="rect">
            <a:avLst/>
          </a:prstGeom>
          <a:solidFill>
            <a:srgbClr val="2E5BAC">
              <a:alpha val="70000"/>
            </a:srgbClr>
          </a:solidFill>
          <a:ln w="25400">
            <a:solidFill>
              <a:srgbClr val="C2185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71816" y="1143000"/>
            <a:ext cx="731520" cy="73152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71816" y="1143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278624" y="199339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51776" y="2377440"/>
            <a:ext cx="1371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deployment, config, training &amp; handover — then escalate via Redington/Ingram to OEM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82880" y="4709160"/>
            <a:ext cx="8778240" cy="274320"/>
          </a:xfrm>
          <a:prstGeom prst="rect">
            <a:avLst/>
          </a:prstGeom>
          <a:solidFill>
            <a:srgbClr val="C2185B">
              <a:alpha val="70000"/>
            </a:srgbClr>
          </a:solidFill>
          <a:ln w="12700">
            <a:solidFill>
              <a:srgbClr val="E8A0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71830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path when needed: Dciphers → Distributor (Redington / Ingram Micro) → OEM Support Team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DCIPHERS SOLUTION PORTFOLIO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B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2743200" cy="402336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042416"/>
            <a:ext cx="2596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Identity &amp; Access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109728" cy="10972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63040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/ Active Directory setup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837944"/>
            <a:ext cx="109728" cy="10972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92224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&amp; Privileged Identity Mgmt (PIM)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167128"/>
            <a:ext cx="109728" cy="10972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21408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BYOD &amp; mobile device integration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496312"/>
            <a:ext cx="109728" cy="10972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50592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&amp; Zero Trust Access framework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27248" y="100584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B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27248" y="1005840"/>
            <a:ext cx="2743200" cy="402336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042416"/>
            <a:ext cx="2596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Email &amp; Cloud Security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18688" y="1508760"/>
            <a:ext cx="109728" cy="10972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01568" y="1463040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Email Security gateway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18688" y="1837944"/>
            <a:ext cx="109728" cy="10972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1568" y="1792224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CASB (Cloud Access Security Broker)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18688" y="2167128"/>
            <a:ext cx="109728" cy="10972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01568" y="2121408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Umbrella DNS-layer filtering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18688" y="2496312"/>
            <a:ext cx="109728" cy="10972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01568" y="2450592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secure web proxy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71616" y="100584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B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71616" y="1005840"/>
            <a:ext cx="2743200" cy="402336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44768" y="1042416"/>
            <a:ext cx="2596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Perimeter &amp; Network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63056" y="1508760"/>
            <a:ext cx="109728" cy="10972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45936" y="1463040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/ Fortinet Next-Gen Firewall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63056" y="1837944"/>
            <a:ext cx="109728" cy="10972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45936" y="1792224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&amp; Advanced Persistent Threat (APT)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63056" y="2167128"/>
            <a:ext cx="109728" cy="10972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45936" y="2121408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(Web Application Firewall)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63056" y="2496312"/>
            <a:ext cx="109728" cy="10972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45936" y="2450592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SD-WAN &amp; network segmentation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82880" y="299923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B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82880" y="2999232"/>
            <a:ext cx="2743200" cy="402336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6032" y="3035808"/>
            <a:ext cx="2596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Advisory &amp; Assessment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74320" y="3502152"/>
            <a:ext cx="109728" cy="10972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456432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Assessment (VA)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3831336"/>
            <a:ext cx="109728" cy="10972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3785616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Testing (VAPT)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74320" y="4160520"/>
            <a:ext cx="109728" cy="10972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114800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Gap Analysis (RBI/SEBI)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74320" y="4489704"/>
            <a:ext cx="109728" cy="10972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443984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vector &amp; risk analysis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127248" y="299923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B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127248" y="2999232"/>
            <a:ext cx="2743200" cy="402336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0" y="3035808"/>
            <a:ext cx="2596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Monitoring &amp; SOC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3218688" y="3502152"/>
            <a:ext cx="109728" cy="10972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01568" y="3456432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SOC setup &amp; management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218688" y="3831336"/>
            <a:ext cx="109728" cy="10972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01568" y="3785616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Analytics &amp; Automation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218688" y="4160520"/>
            <a:ext cx="109728" cy="10972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01568" y="4114800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Analyzer &amp; log management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218688" y="4489704"/>
            <a:ext cx="109728" cy="10972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01568" y="4443984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implementation (real-time alerts)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071616" y="299923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B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071616" y="2999232"/>
            <a:ext cx="2743200" cy="402336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44768" y="3035808"/>
            <a:ext cx="2596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Endpoint &amp; Datacenter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163056" y="3502152"/>
            <a:ext cx="109728" cy="10972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45936" y="3456432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Detection &amp; Response (EDR)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163056" y="3831336"/>
            <a:ext cx="109728" cy="10972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45936" y="3785616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Disaster Recovery (DR)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163056" y="4160520"/>
            <a:ext cx="109728" cy="10972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45936" y="4114800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365 full suite deployment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163056" y="4489704"/>
            <a:ext cx="109728" cy="10972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45936" y="4443984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 &amp; device health mgmt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274320" y="49194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dciphers.com  |  Making Solutions Simple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0BF"/>
          </a:solidFill>
          <a:ln w="12700">
            <a:solidFill>
              <a:srgbClr val="E8A0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DCIPHERS? THE HONEST ANSWER.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4160520" cy="1783080"/>
          </a:xfrm>
          <a:prstGeom prst="rect">
            <a:avLst/>
          </a:prstGeom>
          <a:solidFill>
            <a:srgbClr val="2E5BAC">
              <a:alpha val="60000"/>
            </a:srgbClr>
          </a:solidFill>
          <a:ln w="12700">
            <a:solidFill>
              <a:srgbClr val="E8A0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78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41832" y="96012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Relationship-Driven, Not Product-Pushy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1832" y="137160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Dciphers genuinely audits your environment and recommends only what you need — they'll tell you if your current tools are enough before selling you anything new.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41832" y="2267712"/>
            <a:ext cx="2011680" cy="256032"/>
          </a:xfrm>
          <a:prstGeom prst="rect">
            <a:avLst/>
          </a:prstGeom>
          <a:solidFill>
            <a:srgbClr val="C2185B">
              <a:alpha val="80000"/>
            </a:srgbClr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2677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ROI-first philosophy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868680"/>
            <a:ext cx="4160520" cy="1783080"/>
          </a:xfrm>
          <a:prstGeom prst="rect">
            <a:avLst/>
          </a:prstGeom>
          <a:solidFill>
            <a:srgbClr val="2E5BAC">
              <a:alpha val="60000"/>
            </a:srgbClr>
          </a:solidFill>
          <a:ln w="12700">
            <a:solidFill>
              <a:srgbClr val="E8A0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978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🔗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376672" y="96012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Top OEM Brands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76672" y="137160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partnership with Cisco, Palo Alto Networks, Fortinet &amp; Microsoft via Redington &amp; Ingram Micro — two of India's largest IT distributors.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76672" y="2267712"/>
            <a:ext cx="2011680" cy="256032"/>
          </a:xfrm>
          <a:prstGeom prst="rect">
            <a:avLst/>
          </a:prstGeom>
          <a:solidFill>
            <a:srgbClr val="C2185B">
              <a:alpha val="80000"/>
            </a:srgbClr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76672" y="22677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Global OEM network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2834640"/>
            <a:ext cx="4160520" cy="1783080"/>
          </a:xfrm>
          <a:prstGeom prst="rect">
            <a:avLst/>
          </a:prstGeom>
          <a:solidFill>
            <a:srgbClr val="2E5BAC">
              <a:alpha val="60000"/>
            </a:srgbClr>
          </a:solidFill>
          <a:ln w="12700">
            <a:solidFill>
              <a:srgbClr val="E8A0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944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💡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41832" y="292608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 One Partner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1832" y="333756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initial security audit to live SOC monitoring — you don't need to manage 4 different vendors. One partner, all layers, full accountability.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41832" y="4233672"/>
            <a:ext cx="2011680" cy="256032"/>
          </a:xfrm>
          <a:prstGeom prst="rect">
            <a:avLst/>
          </a:prstGeom>
          <a:solidFill>
            <a:srgbClr val="C2185B">
              <a:alpha val="80000"/>
            </a:srgbClr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42336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Single-window delivery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2834640"/>
            <a:ext cx="4160520" cy="1783080"/>
          </a:xfrm>
          <a:prstGeom prst="rect">
            <a:avLst/>
          </a:prstGeom>
          <a:solidFill>
            <a:srgbClr val="2E5BAC">
              <a:alpha val="60000"/>
            </a:srgbClr>
          </a:solidFill>
          <a:ln w="12700">
            <a:solidFill>
              <a:srgbClr val="E8A0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944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376672" y="292608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Before You Buy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76672" y="333756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companies underuse 60-70% of their existing security tools. Dciphers extracts value first, then recommends additions — saving clients lakhs.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76672" y="4233672"/>
            <a:ext cx="2011680" cy="256032"/>
          </a:xfrm>
          <a:prstGeom prst="rect">
            <a:avLst/>
          </a:prstGeom>
          <a:solidFill>
            <a:srgbClr val="C2185B">
              <a:alpha val="80000"/>
            </a:srgbClr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76672" y="42336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Tool utilization audit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49194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A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dciphers.com  |  Making Solutions Simple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A0BF"/>
          </a:solidFill>
          <a:ln w="12700">
            <a:solidFill>
              <a:srgbClr val="E8A0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E8A0BF"/>
          </a:solidFill>
          <a:ln w="12700">
            <a:solidFill>
              <a:srgbClr val="E8A0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23960" y="109728"/>
            <a:ext cx="320040" cy="4919472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097280" y="2926080"/>
            <a:ext cx="2743200" cy="2743200"/>
          </a:xfrm>
          <a:prstGeom prst="ellipse">
            <a:avLst/>
          </a:prstGeom>
          <a:solidFill>
            <a:srgbClr val="2E5BAC">
              <a:alpha val="30000"/>
            </a:srgbClr>
          </a:solidFill>
          <a:ln w="12700">
            <a:solidFill>
              <a:srgbClr val="7BA7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E8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DCIPHERS IN A SENTENCE: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960120"/>
            <a:ext cx="7315200" cy="1188720"/>
          </a:xfrm>
          <a:prstGeom prst="rect">
            <a:avLst/>
          </a:prstGeom>
          <a:solidFill>
            <a:srgbClr val="2E5BAC">
              <a:alpha val="75000"/>
            </a:srgbClr>
          </a:solidFill>
          <a:ln w="12700">
            <a:solidFill>
              <a:srgbClr val="E8A0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987552"/>
            <a:ext cx="7132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don't just sell technology — we become your trusted IT security partner, from audit to SOC, so your business stays protected."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371600" y="2331720"/>
            <a:ext cx="164592" cy="164592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27632" y="230428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A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Integrator between OEMs &amp; Indian enterprises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0" y="2697480"/>
            <a:ext cx="164592" cy="164592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27632" y="2670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A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Audit → Strategy → Design → Integrate → Monitor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71600" y="3063240"/>
            <a:ext cx="164592" cy="164592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27632" y="303580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A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partners: Cisco, Palo Alto, Fortinet, Microsoft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71600" y="3429000"/>
            <a:ext cx="164592" cy="164592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27632" y="340156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A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Distributors: Redington &amp; Ingram Micro (India's largest)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3794760"/>
            <a:ext cx="164592" cy="164592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27632" y="376732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A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SMEs &amp; enterprises in SaaS-first environments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www.dciphers.com  |  contact@dciphers.com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1323</Words>
  <Application>Microsoft Office PowerPoint</Application>
  <PresentationFormat>On-screen Show (16:9)</PresentationFormat>
  <Paragraphs>193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Bodoni MT Black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Dciphers IT Solutions - Company Overview</dc:title>
  <dc:subject>PptxGenJS Presentation</dc:subject>
  <dc:creator>PptxGenJS</dc:creator>
  <cp:lastModifiedBy>sneha jha</cp:lastModifiedBy>
  <cp:revision>3</cp:revision>
  <dcterms:created xsi:type="dcterms:W3CDTF">2026-04-09T18:45:59Z</dcterms:created>
  <dcterms:modified xsi:type="dcterms:W3CDTF">2026-04-10T04:24:50Z</dcterms:modified>
</cp:coreProperties>
</file>